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4"/>
  </p:notesMasterIdLst>
  <p:sldIdLst>
    <p:sldId id="544" r:id="rId2"/>
    <p:sldId id="514" r:id="rId3"/>
    <p:sldId id="515" r:id="rId4"/>
    <p:sldId id="543" r:id="rId5"/>
    <p:sldId id="517" r:id="rId6"/>
    <p:sldId id="518" r:id="rId7"/>
    <p:sldId id="542" r:id="rId8"/>
    <p:sldId id="520" r:id="rId9"/>
    <p:sldId id="521" r:id="rId10"/>
    <p:sldId id="532" r:id="rId11"/>
    <p:sldId id="533" r:id="rId12"/>
    <p:sldId id="523" r:id="rId13"/>
    <p:sldId id="540" r:id="rId14"/>
    <p:sldId id="539" r:id="rId15"/>
    <p:sldId id="534" r:id="rId16"/>
    <p:sldId id="535" r:id="rId17"/>
    <p:sldId id="536" r:id="rId18"/>
    <p:sldId id="524" r:id="rId19"/>
    <p:sldId id="527" r:id="rId20"/>
    <p:sldId id="529" r:id="rId21"/>
    <p:sldId id="541" r:id="rId22"/>
    <p:sldId id="51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2" autoAdjust="0"/>
    <p:restoredTop sz="94660"/>
  </p:normalViewPr>
  <p:slideViewPr>
    <p:cSldViewPr snapToGrid="0">
      <p:cViewPr varScale="1">
        <p:scale>
          <a:sx n="63" d="100"/>
          <a:sy n="63" d="100"/>
        </p:scale>
        <p:origin x="2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761FF-92E2-4234-80E7-FBCD75CC8193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EACC8-8594-4EF4-A2AA-C13BFE02B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9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40D9-985B-D901-7778-2E229F2B8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79294-3F6E-AE44-597B-CA5065453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866B2-84D3-891C-5FE6-CED1BAF4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4775D-4EE2-B023-CD0D-6242C614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59F5C-4053-CEC5-B12B-5D1D19A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96718A-D0B1-8ABC-A99B-2638919C4610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00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61C733-6C8B-F26F-E206-5A89442DBA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933" y="629754"/>
            <a:ext cx="1900127" cy="191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3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4CC9A-8256-F25E-7F0C-FA3CE500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4671-00D3-064E-060D-0022CD442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99C15-63C1-3375-8BA3-1DE618F33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A8870-5F47-783F-EBB7-01523726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B8075-6DD3-1C04-1F7A-70D47746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0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70685-9DC6-A647-6C98-BF2B57CD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FAA96-B6CF-65F3-8E82-B8C2C291C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D5364-D86F-D62F-3CFD-C15E3B704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D61B3-9601-6FAE-CA54-BB7CF392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FAAF6-61F5-86C4-3C31-A546FFAC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AA8BC-34BE-91C9-0A56-4734314FD16A}"/>
              </a:ext>
            </a:extLst>
          </p:cNvPr>
          <p:cNvSpPr/>
          <p:nvPr userDrawn="1"/>
        </p:nvSpPr>
        <p:spPr bwMode="blackWhite">
          <a:xfrm>
            <a:off x="600891" y="1306286"/>
            <a:ext cx="10985862" cy="4336869"/>
          </a:xfrm>
          <a:prstGeom prst="rect">
            <a:avLst/>
          </a:prstGeom>
          <a:solidFill>
            <a:srgbClr val="00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1B25D8-02E9-E610-116F-6FE356B483F1}"/>
              </a:ext>
            </a:extLst>
          </p:cNvPr>
          <p:cNvCxnSpPr/>
          <p:nvPr userDrawn="1"/>
        </p:nvCxnSpPr>
        <p:spPr>
          <a:xfrm>
            <a:off x="604434" y="5742281"/>
            <a:ext cx="10983132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62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5737-775C-921B-D177-5D59F6BB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AA788-9D21-64A8-391C-4D2D25A62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966FD-2BA2-06A4-5D6E-7D20EA1A0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D7F6F-C15F-ABBC-9714-0D6EE48A0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A88D7-02A5-792B-AAD3-F1469978C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A40B4-BCBD-58A6-85FE-70D9476F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C0D1A-BA9B-FFE1-FE66-FD003D66D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DEE06-73AA-FCD3-C93D-ECECECDC9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8A05A-18C2-A13E-CEE8-2F1455B60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AAE0E-6A6E-AA57-525A-C1B7589A0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17FB79-1615-896C-A82A-3321036EB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7F333A-CB1F-9954-81DC-B01CD71F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71FD3A-7D4D-719E-3BE0-2EC3F71B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2771B-43AC-4221-2F9A-1F3C269FB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6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9D76-8374-D460-AE24-E1D57103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91CF3-7048-D494-4CCD-21972904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40B83-9898-5802-BAF7-197C3781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3E1EA-235B-5FB5-B1B9-C94118D0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8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C9EFA-6985-BF50-7E2B-091819D0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24DA2-E226-750B-85E6-D2F09ABA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FFEA-ABED-010F-A664-1A4F3977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8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779E-2515-8AB0-CE5E-6E065663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8812A-5A05-4E2E-F046-4106B82D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689AD-42F4-A416-F3ED-C6583CD92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F6689-9DEE-20C6-0252-94B5EFE6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B0CF3-DBC8-7AC7-D3A0-20758178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6614F-EB2A-124B-A85C-76C6036C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9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E470-3CF8-CD3C-E653-0C270B39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1DEC4-0ACE-DF25-202D-8E2DA4262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637F0-35CC-3B02-92FA-1F3DE1FD9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467E7-A39D-28F1-7200-768D8747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D7764-86CB-438C-51C5-1AE4C907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980C5-CB16-8AB0-0508-40CD8489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1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E445-B7E9-D2DD-152F-D97651E8D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30C93-AC77-5459-76BC-1B8999D5F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43345-AFE4-D44C-E835-0D90188D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8B45-01E1-6824-0424-8FDE6C7E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E626-F091-A6D8-7521-85D78291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9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19ED1-9CAE-D108-AD1F-C4F490BCD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509C2-9AF3-B1FE-731B-AB1E296F9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2B3CC-C887-1F66-2657-3E4AF98D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1C170-B768-15E0-7494-3F5AD000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66BED-FB2F-AFD8-263A-E277A365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303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69B03-1621-8BF6-4F64-138CE518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630AA-5130-AFAB-4C39-658D8F634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86EDC-53B3-63EF-34D8-1494581B7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C9351-6833-4ACA-9B0E-1AFDFBD3FC6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0195D-5462-E774-EA88-15D5458F1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DB709-980D-0E76-DB72-8E5E9953F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D6553-B421-4DB6-AAE8-4917336B08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5CAF65-3179-97E4-7D9F-1A43A91BAA54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E31FD7-676B-C4AF-4E2B-4AB691B137DA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21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4321D-22CE-FD5E-FC2F-DD4B344DF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6279" y="2858937"/>
            <a:ext cx="6739136" cy="2387918"/>
          </a:xfrm>
        </p:spPr>
        <p:txBody>
          <a:bodyPr anchor="b">
            <a:normAutofit/>
          </a:bodyPr>
          <a:lstStyle/>
          <a:p>
            <a:pPr algn="ctr"/>
            <a:r>
              <a:rPr sz="5400" b="1">
                <a:solidFill>
                  <a:srgbClr val="1E293B"/>
                </a:solidFill>
              </a:rPr>
              <a:t>Eco Forecast</a:t>
            </a:r>
            <a:endParaRPr lang="en-US" sz="5200" dirty="0">
              <a:solidFill>
                <a:schemeClr val="tx2"/>
              </a:solidFill>
            </a:endParaRPr>
          </a:p>
          <a:p>
            <a:pPr algn="ctr"/>
            <a:r>
              <a:rPr sz="1800">
                <a:solidFill>
                  <a:srgbClr val="64748B"/>
                </a:solidFill>
              </a:rPr>
              <a:t>Smart Energy Consumption Forecasting with Explainable AI (Artificial Intelligence)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3E5C7-2237-A381-998C-B0F9B0EFD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5505" y="5165722"/>
            <a:ext cx="6740685" cy="682079"/>
          </a:xfrm>
        </p:spPr>
        <p:txBody>
          <a:bodyPr>
            <a:normAutofit/>
          </a:bodyPr>
          <a:lstStyle/>
          <a:p>
            <a:pPr algn="ctr"/>
            <a:r>
              <a:rPr sz="1300" b="1">
                <a:solidFill>
                  <a:srgbClr val="1E293B"/>
                </a:solidFill>
              </a:rPr>
              <a:t>FYP-BSCS-F25-06   ·   The Superior University, Lahore   ·   Fall 2025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picture containing circle&#10;&#10;Description automatically generated">
            <a:extLst>
              <a:ext uri="{FF2B5EF4-FFF2-40B4-BE49-F238E27FC236}">
                <a16:creationId xmlns:a16="http://schemas.microsoft.com/office/drawing/2014/main" id="{5E9E413A-ED0C-2C41-04AA-DE045CDEA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453" y="326605"/>
            <a:ext cx="2360930" cy="249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14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Rounded Rectangle 3074"/>
          <p:cNvSpPr/>
          <p:nvPr/>
        </p:nvSpPr>
        <p:spPr>
          <a:xfrm>
            <a:off x="838200" y="1950000"/>
            <a:ext cx="3300000" cy="150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TextBox 3075"/>
          <p:cNvSpPr txBox="1"/>
          <p:nvPr/>
        </p:nvSpPr>
        <p:spPr>
          <a:xfrm>
            <a:off x="1058200" y="2170000"/>
            <a:ext cx="2860000" cy="45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 Saqib Masood</a:t>
            </a:r>
          </a:p>
        </p:txBody>
      </p:sp>
      <p:sp>
        <p:nvSpPr>
          <p:cNvPr id="3077" name="TextBox 3076"/>
          <p:cNvSpPr txBox="1"/>
          <p:nvPr/>
        </p:nvSpPr>
        <p:spPr>
          <a:xfrm>
            <a:off x="1058200" y="267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200" b="1">
                <a:solidFill>
                  <a:srgbClr val="E2E8F0"/>
                </a:solidFill>
              </a:rPr>
              <a:t>Group Leader</a:t>
            </a:r>
          </a:p>
        </p:txBody>
      </p:sp>
      <p:sp>
        <p:nvSpPr>
          <p:cNvPr id="3078" name="TextBox 3077"/>
          <p:cNvSpPr txBox="1"/>
          <p:nvPr/>
        </p:nvSpPr>
        <p:spPr>
          <a:xfrm>
            <a:off x="1058200" y="303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Reg. # Su92-Bscsm-F22-133</a:t>
            </a:r>
          </a:p>
        </p:txBody>
      </p:sp>
      <p:sp>
        <p:nvSpPr>
          <p:cNvPr id="3079" name="Rounded Rectangle 3078"/>
          <p:cNvSpPr/>
          <p:nvPr/>
        </p:nvSpPr>
        <p:spPr>
          <a:xfrm>
            <a:off x="4318200" y="1950000"/>
            <a:ext cx="3300000" cy="150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TextBox 3079"/>
          <p:cNvSpPr txBox="1"/>
          <p:nvPr/>
        </p:nvSpPr>
        <p:spPr>
          <a:xfrm>
            <a:off x="4538200" y="2170000"/>
            <a:ext cx="2860000" cy="45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 Hamza</a:t>
            </a:r>
          </a:p>
        </p:txBody>
      </p:sp>
      <p:sp>
        <p:nvSpPr>
          <p:cNvPr id="3081" name="TextBox 3080"/>
          <p:cNvSpPr txBox="1"/>
          <p:nvPr/>
        </p:nvSpPr>
        <p:spPr>
          <a:xfrm>
            <a:off x="4538200" y="267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200" b="1">
                <a:solidFill>
                  <a:srgbClr val="E2E8F0"/>
                </a:solidFill>
              </a:rPr>
              <a:t>Backend &amp; API</a:t>
            </a:r>
          </a:p>
        </p:txBody>
      </p:sp>
      <p:sp>
        <p:nvSpPr>
          <p:cNvPr id="3082" name="TextBox 3081"/>
          <p:cNvSpPr txBox="1"/>
          <p:nvPr/>
        </p:nvSpPr>
        <p:spPr>
          <a:xfrm>
            <a:off x="4538200" y="303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Reg. # Su92-Bscsm-F22-130</a:t>
            </a:r>
          </a:p>
        </p:txBody>
      </p:sp>
      <p:sp>
        <p:nvSpPr>
          <p:cNvPr id="3083" name="Rounded Rectangle 3082"/>
          <p:cNvSpPr/>
          <p:nvPr/>
        </p:nvSpPr>
        <p:spPr>
          <a:xfrm>
            <a:off x="7798200" y="1950000"/>
            <a:ext cx="3300000" cy="150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4" name="TextBox 3083"/>
          <p:cNvSpPr txBox="1"/>
          <p:nvPr/>
        </p:nvSpPr>
        <p:spPr>
          <a:xfrm>
            <a:off x="8018200" y="2170000"/>
            <a:ext cx="2860000" cy="45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Laiba Ali</a:t>
            </a:r>
          </a:p>
        </p:txBody>
      </p:sp>
      <p:sp>
        <p:nvSpPr>
          <p:cNvPr id="3085" name="TextBox 3084"/>
          <p:cNvSpPr txBox="1"/>
          <p:nvPr/>
        </p:nvSpPr>
        <p:spPr>
          <a:xfrm>
            <a:off x="8018200" y="267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200" b="1">
                <a:solidFill>
                  <a:srgbClr val="E2E8F0"/>
                </a:solidFill>
              </a:rPr>
              <a:t>Frontend &amp; UI / UX</a:t>
            </a:r>
          </a:p>
        </p:txBody>
      </p:sp>
      <p:sp>
        <p:nvSpPr>
          <p:cNvPr id="3086" name="TextBox 3085"/>
          <p:cNvSpPr txBox="1"/>
          <p:nvPr/>
        </p:nvSpPr>
        <p:spPr>
          <a:xfrm>
            <a:off x="8018200" y="303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Reg. # Su92-Bscsm-F22-137</a:t>
            </a:r>
          </a:p>
        </p:txBody>
      </p:sp>
      <p:sp>
        <p:nvSpPr>
          <p:cNvPr id="3087" name="Rounded Rectangle 3086"/>
          <p:cNvSpPr/>
          <p:nvPr/>
        </p:nvSpPr>
        <p:spPr>
          <a:xfrm>
            <a:off x="838200" y="3730000"/>
            <a:ext cx="3300000" cy="135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TextBox 3087"/>
          <p:cNvSpPr txBox="1"/>
          <p:nvPr/>
        </p:nvSpPr>
        <p:spPr>
          <a:xfrm>
            <a:off x="1058200" y="387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1">
                <a:solidFill>
                  <a:srgbClr val="E2E8F0"/>
                </a:solidFill>
              </a:rPr>
              <a:t>Supervisor</a:t>
            </a:r>
          </a:p>
        </p:txBody>
      </p:sp>
      <p:sp>
        <p:nvSpPr>
          <p:cNvPr id="3089" name="TextBox 3088"/>
          <p:cNvSpPr txBox="1"/>
          <p:nvPr/>
        </p:nvSpPr>
        <p:spPr>
          <a:xfrm>
            <a:off x="1058200" y="4270000"/>
            <a:ext cx="2860000" cy="4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Mr. Sohaib Hafeez</a:t>
            </a:r>
          </a:p>
        </p:txBody>
      </p:sp>
      <p:sp>
        <p:nvSpPr>
          <p:cNvPr id="3090" name="TextBox 3089"/>
          <p:cNvSpPr txBox="1"/>
          <p:nvPr/>
        </p:nvSpPr>
        <p:spPr>
          <a:xfrm>
            <a:off x="1058200" y="467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Lecturer  ·  Computer Science Dept.</a:t>
            </a:r>
          </a:p>
        </p:txBody>
      </p:sp>
      <p:sp>
        <p:nvSpPr>
          <p:cNvPr id="3091" name="Rounded Rectangle 3090"/>
          <p:cNvSpPr/>
          <p:nvPr/>
        </p:nvSpPr>
        <p:spPr>
          <a:xfrm>
            <a:off x="4318200" y="3730000"/>
            <a:ext cx="3300000" cy="135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2" name="TextBox 3091"/>
          <p:cNvSpPr txBox="1"/>
          <p:nvPr/>
        </p:nvSpPr>
        <p:spPr>
          <a:xfrm>
            <a:off x="4538200" y="387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1">
                <a:solidFill>
                  <a:srgbClr val="E2E8F0"/>
                </a:solidFill>
              </a:rPr>
              <a:t>Co-Supervisor</a:t>
            </a:r>
          </a:p>
        </p:txBody>
      </p:sp>
      <p:sp>
        <p:nvSpPr>
          <p:cNvPr id="3093" name="TextBox 3092"/>
          <p:cNvSpPr txBox="1"/>
          <p:nvPr/>
        </p:nvSpPr>
        <p:spPr>
          <a:xfrm>
            <a:off x="4538200" y="4270000"/>
            <a:ext cx="2860000" cy="4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Mr. Syed Karar Haider Bukhari</a:t>
            </a:r>
          </a:p>
        </p:txBody>
      </p:sp>
      <p:sp>
        <p:nvSpPr>
          <p:cNvPr id="3094" name="TextBox 3093"/>
          <p:cNvSpPr txBox="1"/>
          <p:nvPr/>
        </p:nvSpPr>
        <p:spPr>
          <a:xfrm>
            <a:off x="4538200" y="467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Lecturer  ·  Computer Science Dept.</a:t>
            </a:r>
          </a:p>
        </p:txBody>
      </p:sp>
      <p:sp>
        <p:nvSpPr>
          <p:cNvPr id="3095" name="Rounded Rectangle 3094"/>
          <p:cNvSpPr/>
          <p:nvPr/>
        </p:nvSpPr>
        <p:spPr>
          <a:xfrm>
            <a:off x="7798200" y="3730000"/>
            <a:ext cx="3300000" cy="135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6" name="TextBox 3095"/>
          <p:cNvSpPr txBox="1"/>
          <p:nvPr/>
        </p:nvSpPr>
        <p:spPr>
          <a:xfrm>
            <a:off x="8018200" y="387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1">
                <a:solidFill>
                  <a:srgbClr val="E2E8F0"/>
                </a:solidFill>
              </a:rPr>
              <a:t>HOD (Head of Department)</a:t>
            </a:r>
          </a:p>
        </p:txBody>
      </p:sp>
      <p:sp>
        <p:nvSpPr>
          <p:cNvPr id="3097" name="TextBox 3096"/>
          <p:cNvSpPr txBox="1"/>
          <p:nvPr/>
        </p:nvSpPr>
        <p:spPr>
          <a:xfrm>
            <a:off x="8018200" y="4270000"/>
            <a:ext cx="2860000" cy="4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Dr. Azam Chaudhary</a:t>
            </a:r>
          </a:p>
        </p:txBody>
      </p:sp>
      <p:sp>
        <p:nvSpPr>
          <p:cNvPr id="3098" name="TextBox 3097"/>
          <p:cNvSpPr txBox="1"/>
          <p:nvPr/>
        </p:nvSpPr>
        <p:spPr>
          <a:xfrm>
            <a:off x="8018200" y="4670000"/>
            <a:ext cx="2860000" cy="3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Computer Science Department</a:t>
            </a:r>
          </a:p>
        </p:txBody>
      </p:sp>
      <p:sp>
        <p:nvSpPr>
          <p:cNvPr id="3099" name="TextBox 3098"/>
          <p:cNvSpPr txBox="1"/>
          <p:nvPr/>
        </p:nvSpPr>
        <p:spPr>
          <a:xfrm>
            <a:off x="838200" y="5230000"/>
            <a:ext cx="10500000" cy="36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Programme: BSCS (Bachelor of Science in Computer Science)   ·   Session 2022 to 2026   ·   Faculty of Computer Science &amp;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4673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Oval 4098"/>
          <p:cNvSpPr/>
          <p:nvPr/>
        </p:nvSpPr>
        <p:spPr>
          <a:xfrm>
            <a:off x="838200" y="195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0" name="TextBox 4099"/>
          <p:cNvSpPr txBox="1"/>
          <p:nvPr/>
        </p:nvSpPr>
        <p:spPr>
          <a:xfrm>
            <a:off x="838200" y="195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101" name="TextBox 4100"/>
          <p:cNvSpPr txBox="1"/>
          <p:nvPr/>
        </p:nvSpPr>
        <p:spPr>
          <a:xfrm>
            <a:off x="1398200" y="195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Introduction &amp; Background</a:t>
            </a:r>
          </a:p>
        </p:txBody>
      </p:sp>
      <p:sp>
        <p:nvSpPr>
          <p:cNvPr id="4102" name="Oval 4101"/>
          <p:cNvSpPr/>
          <p:nvPr/>
        </p:nvSpPr>
        <p:spPr>
          <a:xfrm>
            <a:off x="6218200" y="195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TextBox 4102"/>
          <p:cNvSpPr txBox="1"/>
          <p:nvPr/>
        </p:nvSpPr>
        <p:spPr>
          <a:xfrm>
            <a:off x="6218200" y="195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104" name="TextBox 4103"/>
          <p:cNvSpPr txBox="1"/>
          <p:nvPr/>
        </p:nvSpPr>
        <p:spPr>
          <a:xfrm>
            <a:off x="6778200" y="195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Problem Statement</a:t>
            </a:r>
          </a:p>
        </p:txBody>
      </p:sp>
      <p:sp>
        <p:nvSpPr>
          <p:cNvPr id="4105" name="Oval 4104"/>
          <p:cNvSpPr/>
          <p:nvPr/>
        </p:nvSpPr>
        <p:spPr>
          <a:xfrm>
            <a:off x="838200" y="247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6" name="TextBox 4105"/>
          <p:cNvSpPr txBox="1"/>
          <p:nvPr/>
        </p:nvSpPr>
        <p:spPr>
          <a:xfrm>
            <a:off x="838200" y="247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107" name="TextBox 4106"/>
          <p:cNvSpPr txBox="1"/>
          <p:nvPr/>
        </p:nvSpPr>
        <p:spPr>
          <a:xfrm>
            <a:off x="1398200" y="247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Solution</a:t>
            </a:r>
          </a:p>
        </p:txBody>
      </p:sp>
      <p:sp>
        <p:nvSpPr>
          <p:cNvPr id="4108" name="Oval 4107"/>
          <p:cNvSpPr/>
          <p:nvPr/>
        </p:nvSpPr>
        <p:spPr>
          <a:xfrm>
            <a:off x="6218200" y="247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9" name="TextBox 4108"/>
          <p:cNvSpPr txBox="1"/>
          <p:nvPr/>
        </p:nvSpPr>
        <p:spPr>
          <a:xfrm>
            <a:off x="6218200" y="247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110" name="TextBox 4109"/>
          <p:cNvSpPr txBox="1"/>
          <p:nvPr/>
        </p:nvSpPr>
        <p:spPr>
          <a:xfrm>
            <a:off x="6778200" y="247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Features and Scope</a:t>
            </a:r>
          </a:p>
        </p:txBody>
      </p:sp>
      <p:sp>
        <p:nvSpPr>
          <p:cNvPr id="4111" name="Oval 4110"/>
          <p:cNvSpPr/>
          <p:nvPr/>
        </p:nvSpPr>
        <p:spPr>
          <a:xfrm>
            <a:off x="838200" y="299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2" name="TextBox 4111"/>
          <p:cNvSpPr txBox="1"/>
          <p:nvPr/>
        </p:nvSpPr>
        <p:spPr>
          <a:xfrm>
            <a:off x="838200" y="299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113" name="TextBox 4112"/>
          <p:cNvSpPr txBox="1"/>
          <p:nvPr/>
        </p:nvSpPr>
        <p:spPr>
          <a:xfrm>
            <a:off x="1398200" y="299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Requirements (Elicitation, SRS)</a:t>
            </a:r>
          </a:p>
        </p:txBody>
      </p:sp>
      <p:sp>
        <p:nvSpPr>
          <p:cNvPr id="4114" name="Oval 4113"/>
          <p:cNvSpPr/>
          <p:nvPr/>
        </p:nvSpPr>
        <p:spPr>
          <a:xfrm>
            <a:off x="6218200" y="299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5" name="TextBox 4114"/>
          <p:cNvSpPr txBox="1"/>
          <p:nvPr/>
        </p:nvSpPr>
        <p:spPr>
          <a:xfrm>
            <a:off x="6218200" y="299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116" name="TextBox 4115"/>
          <p:cNvSpPr txBox="1"/>
          <p:nvPr/>
        </p:nvSpPr>
        <p:spPr>
          <a:xfrm>
            <a:off x="6778200" y="299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Use Case Diagram</a:t>
            </a:r>
          </a:p>
        </p:txBody>
      </p:sp>
      <p:sp>
        <p:nvSpPr>
          <p:cNvPr id="4117" name="Oval 4116"/>
          <p:cNvSpPr/>
          <p:nvPr/>
        </p:nvSpPr>
        <p:spPr>
          <a:xfrm>
            <a:off x="838200" y="351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8" name="TextBox 4117"/>
          <p:cNvSpPr txBox="1"/>
          <p:nvPr/>
        </p:nvSpPr>
        <p:spPr>
          <a:xfrm>
            <a:off x="838200" y="351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19" name="TextBox 4118"/>
          <p:cNvSpPr txBox="1"/>
          <p:nvPr/>
        </p:nvSpPr>
        <p:spPr>
          <a:xfrm>
            <a:off x="1398200" y="351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Functional &amp; Non-Functional Requirements</a:t>
            </a:r>
          </a:p>
        </p:txBody>
      </p:sp>
      <p:sp>
        <p:nvSpPr>
          <p:cNvPr id="4120" name="Oval 4119"/>
          <p:cNvSpPr/>
          <p:nvPr/>
        </p:nvSpPr>
        <p:spPr>
          <a:xfrm>
            <a:off x="6218200" y="351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1" name="TextBox 4120"/>
          <p:cNvSpPr txBox="1"/>
          <p:nvPr/>
        </p:nvSpPr>
        <p:spPr>
          <a:xfrm>
            <a:off x="6218200" y="351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122" name="TextBox 4121"/>
          <p:cNvSpPr txBox="1"/>
          <p:nvPr/>
        </p:nvSpPr>
        <p:spPr>
          <a:xfrm>
            <a:off x="6778200" y="351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System Design &amp; Architecture</a:t>
            </a:r>
          </a:p>
        </p:txBody>
      </p:sp>
      <p:sp>
        <p:nvSpPr>
          <p:cNvPr id="4123" name="Oval 4122"/>
          <p:cNvSpPr/>
          <p:nvPr/>
        </p:nvSpPr>
        <p:spPr>
          <a:xfrm>
            <a:off x="838200" y="403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4" name="TextBox 4123"/>
          <p:cNvSpPr txBox="1"/>
          <p:nvPr/>
        </p:nvSpPr>
        <p:spPr>
          <a:xfrm>
            <a:off x="838200" y="403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125" name="TextBox 4124"/>
          <p:cNvSpPr txBox="1"/>
          <p:nvPr/>
        </p:nvSpPr>
        <p:spPr>
          <a:xfrm>
            <a:off x="1398200" y="403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Implementation, Tools &amp; Tech</a:t>
            </a:r>
          </a:p>
        </p:txBody>
      </p:sp>
      <p:sp>
        <p:nvSpPr>
          <p:cNvPr id="4126" name="Oval 4125"/>
          <p:cNvSpPr/>
          <p:nvPr/>
        </p:nvSpPr>
        <p:spPr>
          <a:xfrm>
            <a:off x="6218200" y="4030000"/>
            <a:ext cx="440000" cy="44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7" name="TextBox 4126"/>
          <p:cNvSpPr txBox="1"/>
          <p:nvPr/>
        </p:nvSpPr>
        <p:spPr>
          <a:xfrm>
            <a:off x="6218200" y="4030000"/>
            <a:ext cx="4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128" name="TextBox 4127"/>
          <p:cNvSpPr txBox="1"/>
          <p:nvPr/>
        </p:nvSpPr>
        <p:spPr>
          <a:xfrm>
            <a:off x="6778200" y="4030000"/>
            <a:ext cx="4540000" cy="44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Challenges, Prototype &amp; Screenshots</a:t>
            </a:r>
          </a:p>
        </p:txBody>
      </p:sp>
    </p:spTree>
    <p:extLst>
      <p:ext uri="{BB962C8B-B14F-4D97-AF65-F5344CB8AC3E}">
        <p14:creationId xmlns:p14="http://schemas.microsoft.com/office/powerpoint/2010/main" val="219308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2828-2378-410A-8302-2CFE7F8E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Introduction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78744-C176-4F6B-B20F-A9FB0996D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Pakistan's Energy Crisis</a:t>
            </a:r>
            <a:endParaRPr lang="en-US"/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Persistent electricity shortfalls and load shedding affect ~220 million citizens.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Domestic sector consumes ~50% of national electricity; demand is highly weather-driven.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Existing utilities use coarse statistical forecasts that ignore local micro-climates.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Why AI (Artificial Intelligence) and DL (Deep Learning)?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DL models capture non-linear, sequential patterns in hourly weather and consumption data.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XAI (Explainable AI) techniques expose the “why” behind every prediction.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RAG (Retrieval-Augmented Generation) bridges raw forecasts and human-friendly insight.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Project Vision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End-to-end forecasting platform for six Pakistani cities: accurate, explainable, and conversational.</a:t>
            </a:r>
          </a:p>
        </p:txBody>
      </p:sp>
    </p:spTree>
    <p:extLst>
      <p:ext uri="{BB962C8B-B14F-4D97-AF65-F5344CB8AC3E}">
        <p14:creationId xmlns:p14="http://schemas.microsoft.com/office/powerpoint/2010/main" val="216908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pPr eaLnBrk="1" hangingPunct="1"/>
            <a:r>
              <a:rPr lang="en-US" dirty="0"/>
              <a:t>Problem Statement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 eaLnBrk="1" hangingPunct="1"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</a:rPr>
              <a:t>Core Problem</a:t>
            </a:r>
            <a:endParaRPr lang="en-US"/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Households cannot anticipate next-day electricity demand, causing bill shocks, load-shedding stress, and inefficient appliance scheduling.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</a:rPr>
              <a:t>Limitations of Existing Solutions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Global tools (Google DeepMind, Tesla Autobidder) are not localised to Pakistani climate or pricing.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Local utility tools (WAPDA / LESCO) provide only aggregated billing, no household-level forecast.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Black-box ML (Machine Learning) gives numbers but no explanation; users cannot trust or learn.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No conversational interface for non-technical users to query forecasts in plain language.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</a:rPr>
              <a:t>Research Gap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A unified system: per-city forecasting, XAI, and natural-language Q&amp;A (Question &amp; Answer) for South-Asian residential demand.</a:t>
            </a:r>
          </a:p>
        </p:txBody>
      </p:sp>
    </p:spTree>
    <p:extLst>
      <p:ext uri="{BB962C8B-B14F-4D97-AF65-F5344CB8AC3E}">
        <p14:creationId xmlns:p14="http://schemas.microsoft.com/office/powerpoint/2010/main" val="357003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900000"/>
            <a:ext cx="10515600" cy="3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A three-layer intelligent platform: Predictive  ·  Explainable  ·  Conversational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2350000"/>
            <a:ext cx="3400000" cy="340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8200" y="2530000"/>
            <a:ext cx="900000" cy="90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8200" y="2570000"/>
            <a:ext cx="2100000" cy="50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Predictive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200" y="3550000"/>
            <a:ext cx="2980000" cy="200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Hybrid DL ensemble: CNN (Convolutional Neural Network) + LSTM (Long Short-Term Memory) + GRU (Gated Recurrent Unit) with weighted averaging.
Forecasts next-day daily and hourly kWh (Kilowatt-hour) for six cities.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8200" y="2350000"/>
            <a:ext cx="3400000" cy="340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8200" y="2530000"/>
            <a:ext cx="900000" cy="90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8200" y="2570000"/>
            <a:ext cx="2100000" cy="50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Explainability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200" y="3550000"/>
            <a:ext cx="2980000" cy="200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SHAP (SHapley Additive exPlanations): global + local feature attribution.
LIME (Local Interpretable Model-agnostic Explanations): per-instance insight.
XAI makes predictions trustworthy.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8200" y="2350000"/>
            <a:ext cx="3400000" cy="340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8200" y="2530000"/>
            <a:ext cx="900000" cy="90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00" y="2570000"/>
            <a:ext cx="2100000" cy="50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Conversational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8200" y="3550000"/>
            <a:ext cx="2980000" cy="200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FAISS (Facebook AI Similarity Search) vector index over a curated knowledge base.
Anthropic Claude LLM (Large Language Model) generates grounded answers via RAG (Retrieval-Augmented Generation).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" y="5970000"/>
            <a:ext cx="10515600" cy="420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5970000"/>
            <a:ext cx="10515600" cy="4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Outcome:  households receive an accurate, explainable, and conversational forecast in one dashboard.</a:t>
            </a:r>
          </a:p>
        </p:txBody>
      </p:sp>
    </p:spTree>
    <p:extLst>
      <p:ext uri="{BB962C8B-B14F-4D97-AF65-F5344CB8AC3E}">
        <p14:creationId xmlns:p14="http://schemas.microsoft.com/office/powerpoint/2010/main" val="296227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BF5B-1469-4BE1-B878-2BAA1A81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Features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5594-604F-4E9B-A695-37005054F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Core Features</a:t>
            </a:r>
            <a:endParaRPr lang="en-US"/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Next-day daily and 24-hour kWh forecasts for Lahore, Karachi, Islamabad, Multan, Peshawar, Skardu.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Live weather via Open-Meteo API (Application Programming Interface) with no key required.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Dark-theme UI (User Interface): charts, weekly outlook, appliance breakdown.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Global and local SHAP visualisations and LIME local explanations.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RAG-powered Q&amp;A chatbot: conversation history and per-request API key.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Downloadable forecasts (CSV: Comma-Separated Values; JSON: JavaScript Object Notation).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In-Scope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Residential single-household demand for the six target cities; horizon 24 hours.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Out-of-Scope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Industrial / commercial loads, real-time tariff optimisation, IoT (Internet of Things) device control.</a:t>
            </a:r>
          </a:p>
        </p:txBody>
      </p:sp>
    </p:spTree>
    <p:extLst>
      <p:ext uri="{BB962C8B-B14F-4D97-AF65-F5344CB8AC3E}">
        <p14:creationId xmlns:p14="http://schemas.microsoft.com/office/powerpoint/2010/main" val="171202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Elicitation Techniques / Tools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Stakeholder interviews: 12 households across the six target cities.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Market &amp; literature survey: 25+ peer-reviewed papers on energy forecasting and XAI.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Wire-framing &amp; prototyping: Figma low-fidelity then high-fidelity dark dashboard.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Domain analysis: REWDP (Residential Energy and Weather Data Pakistan) and Open-Meteo.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Competitive analysis: Google DeepMind, Tesla Autobidder, K-Electric portal.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Specification / Documentation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SRS (Software Requirements Specification): IEEE-830 style; supervisor-reviewed.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Use-case catalogue with primary actors, pre/post conditions, exception flows.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OpenAPI 3.0 schema auto-generated by FastAPI at /docs.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UML (Unified Modeling Language): class, sequence, activity diagrams.</a:t>
            </a:r>
          </a:p>
        </p:txBody>
      </p:sp>
    </p:spTree>
    <p:extLst>
      <p:ext uri="{BB962C8B-B14F-4D97-AF65-F5344CB8AC3E}">
        <p14:creationId xmlns:p14="http://schemas.microsoft.com/office/powerpoint/2010/main" val="174438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Users (Primary Actors)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Household User: views forecasts, asks Q&amp;A, reads explanations and tips.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Energy Analyst: inspects SHAP / LIME, compares CNN / LSTM / GRU / Ensemble.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Admin: rebuilds RAG knowledge base, retrains models, manages API keys.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Use Cases (Selected)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UC-01  View live next-day forecast for selected city.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UC-02  Compare model accuracy and confidence intervals.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UC-03  Inspect feature importances via SHAP / LIME.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UC-04  Ask natural-language question via RAG Q&amp;A chatbot.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UC-05  Download forecast as CSV / JSON.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UC-06  Rebuild FAISS knowledge index (Admin).</a:t>
            </a:r>
          </a:p>
        </p:txBody>
      </p:sp>
    </p:spTree>
    <p:extLst>
      <p:ext uri="{BB962C8B-B14F-4D97-AF65-F5344CB8AC3E}">
        <p14:creationId xmlns:p14="http://schemas.microsoft.com/office/powerpoint/2010/main" val="256917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5567-D39E-4496-A338-2740E070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Use Case Diagram</a:t>
            </a:r>
          </a:p>
        </p:txBody>
      </p:sp>
      <p:pic>
        <p:nvPicPr>
          <p:cNvPr id="3" name="Picture 2" descr="p037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178" y="1900000"/>
            <a:ext cx="6747643" cy="4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6500000"/>
            <a:ext cx="10515600" cy="3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Figure 3.1: Use Case Diagram (FYP Final Report)</a:t>
            </a:r>
          </a:p>
        </p:txBody>
      </p:sp>
    </p:spTree>
    <p:extLst>
      <p:ext uri="{BB962C8B-B14F-4D97-AF65-F5344CB8AC3E}">
        <p14:creationId xmlns:p14="http://schemas.microsoft.com/office/powerpoint/2010/main" val="39548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45E7-E3D3-487B-9CD0-49D409A0B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Functional &amp; Non-Functional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0275C-D8C4-477F-ABE3-EA9F84424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E293B"/>
                </a:solidFill>
              </a:rPr>
              <a:t>Functional Requirements</a:t>
            </a:r>
            <a:endParaRPr lang="en-US"/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FR-01  Forecast next-day daily and hourly kWh for six target cities.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FR-02  Fetch live weather (Temp, Humidity, Solar Radiation, UV, Wind, Precipitation).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FR-03  Provide global and local SHAP and LIME explanations.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FR-04  Answer free-text user questions via RAG Q&amp;A chatbot.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FR-05  Expose results as REST endpoints documented at /docs.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FR-06  Allow per-request override of the Anthropic API key.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E293B"/>
                </a:solidFill>
              </a:rPr>
              <a:t>Non-Functional Requirements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NFR-01  Performance: Forecast &lt; 500 ms p95; Q&amp;A &lt; 4 s p95.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NFR-02  Accuracy: Ensemble R² (Coefficient of Determination) ≥ 0.93.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NFR-03  Reliability: Graceful degradation; mock data on model failure.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NFR-04  Usability: Dark-theme responsive UI; WCAG-AA contrast.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NFR-05  Security: API keys never logged; CORS allow-list; HTTPS-ready.</a:t>
            </a:r>
          </a:p>
          <a:p>
            <a:pPr lvl="1"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</a:rPr>
              <a:t>NFR-06  Maintainability: Modular routers and components; type-checked.</a:t>
            </a:r>
          </a:p>
        </p:txBody>
      </p:sp>
    </p:spTree>
    <p:extLst>
      <p:ext uri="{BB962C8B-B14F-4D97-AF65-F5344CB8AC3E}">
        <p14:creationId xmlns:p14="http://schemas.microsoft.com/office/powerpoint/2010/main" val="2141739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Design Artefacts (covered on the next slides)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</a:rPr>
              <a:t>Architecture Design: three-tier deployment - Frontend, Backend, Data + ML.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</a:rPr>
              <a:t>Entity Relationship Diagram (ERD): User, Forecast, Explanation, KnowledgeDoc, Feedback.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</a:rPr>
              <a:t>Class Diagram: EnsemblePredictor, XAIEngine, RAGEngine, WeatherFetcher.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</a:rPr>
              <a:t>Sequence Diagram: Generate live forecast end-to-end flow.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</a:rPr>
              <a:t>Activity Diagram: Ask RAG Q&amp;A user workflow.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Design Principles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</a:rPr>
              <a:t>Separation of concerns: UI never invokes ML directly.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</a:rPr>
              <a:t>Graceful degradation: every dependency is optional at startup.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</a:rPr>
              <a:t>API-first: every feature has a documented REST endpoint before its UI.</a:t>
            </a:r>
          </a:p>
        </p:txBody>
      </p:sp>
    </p:spTree>
    <p:extLst>
      <p:ext uri="{BB962C8B-B14F-4D97-AF65-F5344CB8AC3E}">
        <p14:creationId xmlns:p14="http://schemas.microsoft.com/office/powerpoint/2010/main" val="2923985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7DA3-6EDD-489E-8538-415BA984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Architecture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200" y="1950000"/>
            <a:ext cx="10515600" cy="118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8200" y="2120000"/>
            <a:ext cx="10075600" cy="4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Presentation Tier   ·   Next.js 14 Frontend  ·  Port 3000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200" y="2530000"/>
            <a:ext cx="10075600" cy="5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React + TypeScript dashboard  ·  Tailwind CSS  ·  Axios HTTP client  ·  Pages: Dashboard | Forecast | Explainability | Accuracy | Q&amp;A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3290000"/>
            <a:ext cx="10515600" cy="118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8200" y="3460000"/>
            <a:ext cx="10075600" cy="4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Application Tier   ·   FastAPI Backend  ·  Port 8000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8200" y="3870000"/>
            <a:ext cx="10075600" cy="5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Routers: /api/forecast, /api/xai, /api/rag, /api/weather, /api/tips  ·  Services: EnsemblePredictor · XAIEngine · RAGEngine · WeatherFetcher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4630000"/>
            <a:ext cx="10515600" cy="118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8200" y="4800000"/>
            <a:ext cx="10075600" cy="4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 + ML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8200" y="5210000"/>
            <a:ext cx="10075600" cy="5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Trained Keras models (cnn / lstm / gru .keras)  ·  FAISS vector index over a 28-doc knowledge base  ·  REWDP processed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5970000"/>
            <a:ext cx="10515600" cy="420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5970000"/>
            <a:ext cx="10515600" cy="4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External Services   ·   Open-Meteo Weather API   ·   Anthropic Claude API   ·   Hugging Face sentence-transformers (all-MiniLM-L6-v2)</a:t>
            </a:r>
          </a:p>
        </p:txBody>
      </p:sp>
    </p:spTree>
    <p:extLst>
      <p:ext uri="{BB962C8B-B14F-4D97-AF65-F5344CB8AC3E}">
        <p14:creationId xmlns:p14="http://schemas.microsoft.com/office/powerpoint/2010/main" val="964476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681E-BC9E-4771-9AD9-886C0481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Entity Relationship Diagram (ERD)</a:t>
            </a:r>
          </a:p>
        </p:txBody>
      </p:sp>
      <p:pic>
        <p:nvPicPr>
          <p:cNvPr id="3" name="Picture 2" descr="p049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213" y="1900000"/>
            <a:ext cx="6785573" cy="4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6500000"/>
            <a:ext cx="10515600" cy="3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Figure 4.2: Main Entities (FYP Final Report)</a:t>
            </a:r>
          </a:p>
        </p:txBody>
      </p:sp>
    </p:spTree>
    <p:extLst>
      <p:ext uri="{BB962C8B-B14F-4D97-AF65-F5344CB8AC3E}">
        <p14:creationId xmlns:p14="http://schemas.microsoft.com/office/powerpoint/2010/main" val="88437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1659-8479-4791-B021-F530DA25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Class Diagram</a:t>
            </a:r>
          </a:p>
        </p:txBody>
      </p:sp>
      <p:pic>
        <p:nvPicPr>
          <p:cNvPr id="3" name="Picture 2" descr="p05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71" y="1900000"/>
            <a:ext cx="6636457" cy="4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6500000"/>
            <a:ext cx="10515600" cy="3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Figure 4.3: Class Diagram (FYP Final Report)</a:t>
            </a:r>
          </a:p>
        </p:txBody>
      </p:sp>
    </p:spTree>
    <p:extLst>
      <p:ext uri="{BB962C8B-B14F-4D97-AF65-F5344CB8AC3E}">
        <p14:creationId xmlns:p14="http://schemas.microsoft.com/office/powerpoint/2010/main" val="1566908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FDCE-058A-41BD-BBCF-11B1E60F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Sequence / Collaboration Diagram</a:t>
            </a:r>
          </a:p>
        </p:txBody>
      </p:sp>
      <p:pic>
        <p:nvPicPr>
          <p:cNvPr id="3" name="Picture 2" descr="p051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02" y="1900000"/>
            <a:ext cx="7408995" cy="4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6500000"/>
            <a:ext cx="10515600" cy="3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Figure 4.4: User Forecast Request Sequence and RAG Query Sequence (FYP Final Report)</a:t>
            </a:r>
          </a:p>
        </p:txBody>
      </p:sp>
    </p:spTree>
    <p:extLst>
      <p:ext uri="{BB962C8B-B14F-4D97-AF65-F5344CB8AC3E}">
        <p14:creationId xmlns:p14="http://schemas.microsoft.com/office/powerpoint/2010/main" val="392671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EB9-8A3D-4866-9CB8-47C5C73C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Activity Diagram</a:t>
            </a:r>
          </a:p>
        </p:txBody>
      </p:sp>
      <p:pic>
        <p:nvPicPr>
          <p:cNvPr id="3" name="Picture 2" descr="p052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84" y="1900000"/>
            <a:ext cx="8035031" cy="4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6500000"/>
            <a:ext cx="10515600" cy="3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Figure 4.6: Activity Diagram - Forecast Generation Process (FYP Final Report)</a:t>
            </a:r>
          </a:p>
        </p:txBody>
      </p:sp>
    </p:spTree>
    <p:extLst>
      <p:ext uri="{BB962C8B-B14F-4D97-AF65-F5344CB8AC3E}">
        <p14:creationId xmlns:p14="http://schemas.microsoft.com/office/powerpoint/2010/main" val="57178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Development Tools &amp; Technologies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Languages: Python 3.10+, TypeScript, JavaScript, HTML, CSS.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Backend: FastAPI 0.115, Uvicorn, Pydantic v2, python-dotenv.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ML / DL: TensorFlow 2.17, Keras 3, scikit-learn, NumPy, Pandas, joblib.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XAI: SHAP 0.46, LIME 0.2.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RAG: sentence-transformers (all-MiniLM-L6-v2), FAISS-CPU, Anthropic SDK 0.40.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Frontend: Next.js 14 (App Router), React, Tailwind CSS, Recharts, Axios, Lucide icons.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Tooling: Git, GitHub, NPM (Node Package Manager), VS Code, Postman.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Best Practices / Coding Standards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PEP-8 (Python); ESLint + TypeScript strict (frontend); Pydantic schemas at every API boundary.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Modular routers and services; lifespan-managed app state; lazy ML imports.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Graceful degradation: every dependency is optional and try / except wrapped.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Libraries / Components / Web Services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Open-Meteo Weather API   ·   Anthropic Claude API   ·   Hugging Face Hub.</a:t>
            </a:r>
          </a:p>
        </p:txBody>
      </p:sp>
    </p:spTree>
    <p:extLst>
      <p:ext uri="{BB962C8B-B14F-4D97-AF65-F5344CB8AC3E}">
        <p14:creationId xmlns:p14="http://schemas.microsoft.com/office/powerpoint/2010/main" val="2536390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pPr eaLnBrk="1" hangingPunct="1"/>
            <a:r>
              <a:rPr lang="en-US" dirty="0"/>
              <a:t>Challenges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 eaLnBrk="1" hangingPunct="1"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Data</a:t>
            </a:r>
            <a:endParaRPr lang="en-US" dirty="0"/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REWDP heterogeneous across cities: heavy feature alignment (lag_1d, lag_7d, rolling_mean_7d).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Missing values during load-shedding hours: imputed via climate-zone medians.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Modelling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Tuning ensemble weights per city to balance CNN spike detection with LSTM / GRU memory.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Keras 3 deserialisation broke older .keras files: required retraining and tf-keras pinning.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Explainability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SHAP KernelExplainer expensive on 24×10 inputs: limited to 50 background and 100 nsamples.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LIME tabular explainer needed flattening and feature-name repetition across 24 timesteps.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</a:rPr>
              <a:t>System Integration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Cross-Origin Resource Sharing across :3000 to :8000: solved with explicit allow-list.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</a:rPr>
              <a:t>Apple-Silicon TF build issues on Python 3.9: fixed with __future__ imports and Optional.</a:t>
            </a:r>
          </a:p>
        </p:txBody>
      </p:sp>
    </p:spTree>
    <p:extLst>
      <p:ext uri="{BB962C8B-B14F-4D97-AF65-F5344CB8AC3E}">
        <p14:creationId xmlns:p14="http://schemas.microsoft.com/office/powerpoint/2010/main" val="3447967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pPr eaLnBrk="1" hangingPunct="1"/>
            <a:r>
              <a:rPr lang="en-US" dirty="0"/>
              <a:t>Prototype: Live Dashboard</a:t>
            </a:r>
          </a:p>
        </p:txBody>
      </p:sp>
      <p:sp>
        <p:nvSpPr>
          <p:cNvPr id="10243" name="Rounded Rectangle 10242"/>
          <p:cNvSpPr/>
          <p:nvPr/>
        </p:nvSpPr>
        <p:spPr>
          <a:xfrm>
            <a:off x="838200" y="1900000"/>
            <a:ext cx="2550000" cy="72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4" name="TextBox 10243"/>
          <p:cNvSpPr txBox="1"/>
          <p:nvPr/>
        </p:nvSpPr>
        <p:spPr>
          <a:xfrm>
            <a:off x="1018200" y="1980000"/>
            <a:ext cx="2190000" cy="2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900" b="1">
                <a:solidFill>
                  <a:srgbClr val="E2E8F0"/>
                </a:solidFill>
              </a:rPr>
              <a:t>R² (Coefficient of Determination)</a:t>
            </a:r>
          </a:p>
        </p:txBody>
      </p:sp>
      <p:sp>
        <p:nvSpPr>
          <p:cNvPr id="10245" name="TextBox 10244"/>
          <p:cNvSpPr txBox="1"/>
          <p:nvPr/>
        </p:nvSpPr>
        <p:spPr>
          <a:xfrm>
            <a:off x="1018200" y="2180000"/>
            <a:ext cx="2190000" cy="3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0.934</a:t>
            </a:r>
          </a:p>
        </p:txBody>
      </p:sp>
      <p:sp>
        <p:nvSpPr>
          <p:cNvPr id="10246" name="TextBox 10245"/>
          <p:cNvSpPr txBox="1"/>
          <p:nvPr/>
        </p:nvSpPr>
        <p:spPr>
          <a:xfrm>
            <a:off x="1018200" y="2460000"/>
            <a:ext cx="2190000" cy="1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Ensemble accuracy</a:t>
            </a:r>
          </a:p>
        </p:txBody>
      </p:sp>
      <p:sp>
        <p:nvSpPr>
          <p:cNvPr id="10247" name="Rounded Rectangle 10246"/>
          <p:cNvSpPr/>
          <p:nvPr/>
        </p:nvSpPr>
        <p:spPr>
          <a:xfrm>
            <a:off x="3538200" y="1900000"/>
            <a:ext cx="2550000" cy="72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8" name="TextBox 10247"/>
          <p:cNvSpPr txBox="1"/>
          <p:nvPr/>
        </p:nvSpPr>
        <p:spPr>
          <a:xfrm>
            <a:off x="3718200" y="1980000"/>
            <a:ext cx="2190000" cy="2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900" b="1">
                <a:solidFill>
                  <a:srgbClr val="E2E8F0"/>
                </a:solidFill>
              </a:rPr>
              <a:t>RMSE (Root Mean Squared Error)</a:t>
            </a:r>
          </a:p>
        </p:txBody>
      </p:sp>
      <p:sp>
        <p:nvSpPr>
          <p:cNvPr id="10249" name="TextBox 10248"/>
          <p:cNvSpPr txBox="1"/>
          <p:nvPr/>
        </p:nvSpPr>
        <p:spPr>
          <a:xfrm>
            <a:off x="3718200" y="2180000"/>
            <a:ext cx="2190000" cy="3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0.328</a:t>
            </a:r>
          </a:p>
        </p:txBody>
      </p:sp>
      <p:sp>
        <p:nvSpPr>
          <p:cNvPr id="10250" name="TextBox 10249"/>
          <p:cNvSpPr txBox="1"/>
          <p:nvPr/>
        </p:nvSpPr>
        <p:spPr>
          <a:xfrm>
            <a:off x="3718200" y="2460000"/>
            <a:ext cx="2190000" cy="1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kWh per hour</a:t>
            </a:r>
          </a:p>
        </p:txBody>
      </p:sp>
      <p:sp>
        <p:nvSpPr>
          <p:cNvPr id="10251" name="Rounded Rectangle 10250"/>
          <p:cNvSpPr/>
          <p:nvPr/>
        </p:nvSpPr>
        <p:spPr>
          <a:xfrm>
            <a:off x="6238200" y="1900000"/>
            <a:ext cx="2550000" cy="72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2" name="TextBox 10251"/>
          <p:cNvSpPr txBox="1"/>
          <p:nvPr/>
        </p:nvSpPr>
        <p:spPr>
          <a:xfrm>
            <a:off x="6418200" y="1980000"/>
            <a:ext cx="2190000" cy="2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900" b="1">
                <a:solidFill>
                  <a:srgbClr val="E2E8F0"/>
                </a:solidFill>
              </a:rPr>
              <a:t>Cities supported</a:t>
            </a:r>
          </a:p>
        </p:txBody>
      </p:sp>
      <p:sp>
        <p:nvSpPr>
          <p:cNvPr id="10253" name="TextBox 10252"/>
          <p:cNvSpPr txBox="1"/>
          <p:nvPr/>
        </p:nvSpPr>
        <p:spPr>
          <a:xfrm>
            <a:off x="6418200" y="2180000"/>
            <a:ext cx="2190000" cy="3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254" name="TextBox 10253"/>
          <p:cNvSpPr txBox="1"/>
          <p:nvPr/>
        </p:nvSpPr>
        <p:spPr>
          <a:xfrm>
            <a:off x="6418200" y="2460000"/>
            <a:ext cx="2190000" cy="1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Pakistani cities</a:t>
            </a:r>
          </a:p>
        </p:txBody>
      </p:sp>
      <p:sp>
        <p:nvSpPr>
          <p:cNvPr id="10255" name="Rounded Rectangle 10254"/>
          <p:cNvSpPr/>
          <p:nvPr/>
        </p:nvSpPr>
        <p:spPr>
          <a:xfrm>
            <a:off x="8938200" y="1900000"/>
            <a:ext cx="2550000" cy="72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6" name="TextBox 10255"/>
          <p:cNvSpPr txBox="1"/>
          <p:nvPr/>
        </p:nvSpPr>
        <p:spPr>
          <a:xfrm>
            <a:off x="9118200" y="1980000"/>
            <a:ext cx="2190000" cy="2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900" b="1">
                <a:solidFill>
                  <a:srgbClr val="E2E8F0"/>
                </a:solidFill>
              </a:rPr>
              <a:t>Models</a:t>
            </a:r>
          </a:p>
        </p:txBody>
      </p:sp>
      <p:sp>
        <p:nvSpPr>
          <p:cNvPr id="10257" name="TextBox 10256"/>
          <p:cNvSpPr txBox="1"/>
          <p:nvPr/>
        </p:nvSpPr>
        <p:spPr>
          <a:xfrm>
            <a:off x="9118200" y="2180000"/>
            <a:ext cx="2190000" cy="3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 + 1</a:t>
            </a:r>
          </a:p>
        </p:txBody>
      </p:sp>
      <p:sp>
        <p:nvSpPr>
          <p:cNvPr id="10258" name="TextBox 10257"/>
          <p:cNvSpPr txBox="1"/>
          <p:nvPr/>
        </p:nvSpPr>
        <p:spPr>
          <a:xfrm>
            <a:off x="9118200" y="2460000"/>
            <a:ext cx="2190000" cy="1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CNN  ·  LSTM  ·  GRU  +  Ensemble</a:t>
            </a:r>
          </a:p>
        </p:txBody>
      </p:sp>
      <p:pic>
        <p:nvPicPr>
          <p:cNvPr id="10259" name="Picture 10258" descr="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0000"/>
            <a:ext cx="10515600" cy="3943350"/>
          </a:xfrm>
          <a:prstGeom prst="rect">
            <a:avLst/>
          </a:prstGeom>
        </p:spPr>
      </p:pic>
      <p:sp>
        <p:nvSpPr>
          <p:cNvPr id="10260" name="TextBox 10259"/>
          <p:cNvSpPr txBox="1"/>
          <p:nvPr/>
        </p:nvSpPr>
        <p:spPr>
          <a:xfrm>
            <a:off x="838200" y="6843350"/>
            <a:ext cx="10515600" cy="3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http://localhost:3000  ·  Dashboard with KPI cards, ensemble Forecast Engine, supported cities, and live backend status.</a:t>
            </a:r>
          </a:p>
        </p:txBody>
      </p:sp>
    </p:spTree>
    <p:extLst>
      <p:ext uri="{BB962C8B-B14F-4D97-AF65-F5344CB8AC3E}">
        <p14:creationId xmlns:p14="http://schemas.microsoft.com/office/powerpoint/2010/main" val="835110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969D-9190-4B2A-ADB1-4A9EDF47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Screenshots: Live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870000"/>
            <a:ext cx="10515600" cy="3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Explainability page  ·  Lahore (July) vs Skardu (January) comparison with SHAP / LIME drivers</a:t>
            </a:r>
          </a:p>
        </p:txBody>
      </p:sp>
      <p:pic>
        <p:nvPicPr>
          <p:cNvPr id="4" name="Picture 3" descr="explainability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452" y="2240000"/>
            <a:ext cx="6547096" cy="43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6620000"/>
            <a:ext cx="10515600" cy="3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Captured live from http://localhost:3000/explainability  ·  73.5% higher daily consumption in Lahore (Δ 17.20 kWh/day).</a:t>
            </a:r>
          </a:p>
        </p:txBody>
      </p:sp>
    </p:spTree>
    <p:extLst>
      <p:ext uri="{BB962C8B-B14F-4D97-AF65-F5344CB8AC3E}">
        <p14:creationId xmlns:p14="http://schemas.microsoft.com/office/powerpoint/2010/main" val="2879147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C69A-2D6F-4E40-B1C5-7A86FE92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lang="en-US" dirty="0"/>
              <a:t>Project Report &amp; Key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200" y="1950000"/>
            <a:ext cx="2550000" cy="128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8200" y="2070000"/>
            <a:ext cx="2190000" cy="2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1">
                <a:solidFill>
                  <a:srgbClr val="E2E8F0"/>
                </a:solidFill>
              </a:rPr>
              <a:t>Ensemble R²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200" y="2370000"/>
            <a:ext cx="2190000" cy="5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0.934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200" y="2810000"/>
            <a:ext cx="2190000" cy="3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Coefficient of Determination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8200" y="1950000"/>
            <a:ext cx="2550000" cy="128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200" y="2070000"/>
            <a:ext cx="2190000" cy="2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1">
                <a:solidFill>
                  <a:srgbClr val="E2E8F0"/>
                </a:solidFill>
              </a:rP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200" y="2370000"/>
            <a:ext cx="2190000" cy="5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0.328 kWh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200" y="2810000"/>
            <a:ext cx="2190000" cy="3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Root Mean Squared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8200" y="1950000"/>
            <a:ext cx="2550000" cy="128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8200" y="2070000"/>
            <a:ext cx="2190000" cy="2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1">
                <a:solidFill>
                  <a:srgbClr val="E2E8F0"/>
                </a:solidFill>
              </a:rPr>
              <a:t>MAE (Mean Absolute Error)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8200" y="2370000"/>
            <a:ext cx="2190000" cy="5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0.256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8200" y="2810000"/>
            <a:ext cx="2190000" cy="3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Average absolute deviation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200" y="1950000"/>
            <a:ext cx="2550000" cy="128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8200" y="2070000"/>
            <a:ext cx="2190000" cy="28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1">
                <a:solidFill>
                  <a:srgbClr val="E2E8F0"/>
                </a:solidFill>
              </a:rPr>
              <a:t>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8200" y="2370000"/>
            <a:ext cx="2190000" cy="5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28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8200" y="2810000"/>
            <a:ext cx="2190000" cy="3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FAISS  ·  384-dim vectors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200" y="3450000"/>
            <a:ext cx="10515600" cy="1550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8200" y="3610000"/>
            <a:ext cx="10300000" cy="42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Final Project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8200" y="4030000"/>
            <a:ext cx="10300000" cy="3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Title:  Smart Energy Consumption Forecasting with Explainable AI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200" y="4350000"/>
            <a:ext cx="10300000" cy="3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Document:  Template-07 / FYP FINAL V8.docx  (versions 1.0 to 1.3, Sep 2025 to Dec 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200" y="4630000"/>
            <a:ext cx="10300000" cy="360000"/>
          </a:xfrm>
          <a:prstGeom prst="rect">
            <a:avLst/>
          </a:prstGeom>
          <a:noFill/>
        </p:spPr>
        <p:txBody>
          <a:bodyPr wrap="square" lIns="60000" rIns="60000" tIns="20000" bIns="20000" anchor="t">
            <a:normAutofit fontScale="85000" lnSpcReduction="10000"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Source Code:  github.com/sovanza-inc/HamzaFYP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200" y="5280000"/>
            <a:ext cx="10515600" cy="620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" y="5280000"/>
            <a:ext cx="10515600" cy="6200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normAutofit fontScale="85000" lnSpcReduction="10000"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Thank You  ·  Questions?</a:t>
            </a:r>
          </a:p>
        </p:txBody>
      </p:sp>
    </p:spTree>
    <p:extLst>
      <p:ext uri="{BB962C8B-B14F-4D97-AF65-F5344CB8AC3E}">
        <p14:creationId xmlns:p14="http://schemas.microsoft.com/office/powerpoint/2010/main" val="2803452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1600</TotalTime>
  <Words>132</Words>
  <Application>Microsoft Office PowerPoint</Application>
  <PresentationFormat>Widescreen</PresentationFormat>
  <Paragraphs>50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Project Team</vt:lpstr>
      <vt:lpstr>Table of Content</vt:lpstr>
      <vt:lpstr>Introduction &amp; Background</vt:lpstr>
      <vt:lpstr>Problem Statement</vt:lpstr>
      <vt:lpstr>Solution</vt:lpstr>
      <vt:lpstr>Features and Scope</vt:lpstr>
      <vt:lpstr>Requirements</vt:lpstr>
      <vt:lpstr>Requirements</vt:lpstr>
      <vt:lpstr>Use Case Diagram</vt:lpstr>
      <vt:lpstr>Functional &amp; Non Functional Requirements</vt:lpstr>
      <vt:lpstr>System Design</vt:lpstr>
      <vt:lpstr>Architecture Design</vt:lpstr>
      <vt:lpstr>Entity Relationship Diagram</vt:lpstr>
      <vt:lpstr>Class Diagram</vt:lpstr>
      <vt:lpstr>Sequence / Collaboration Diagram</vt:lpstr>
      <vt:lpstr>Activity Diagram</vt:lpstr>
      <vt:lpstr>Implementation</vt:lpstr>
      <vt:lpstr>Challenges</vt:lpstr>
      <vt:lpstr>Prototype</vt:lpstr>
      <vt:lpstr>Screenshots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Sheheryar Malik</dc:creator>
  <cp:lastModifiedBy>Muhammad Ahmad</cp:lastModifiedBy>
  <cp:revision>565</cp:revision>
  <cp:lastPrinted>2017-10-31T06:19:01Z</cp:lastPrinted>
  <dcterms:created xsi:type="dcterms:W3CDTF">2017-10-28T17:48:40Z</dcterms:created>
  <dcterms:modified xsi:type="dcterms:W3CDTF">2023-01-03T07:33:03Z</dcterms:modified>
</cp:coreProperties>
</file>